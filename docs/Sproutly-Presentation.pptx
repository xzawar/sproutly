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1047749"/>
            <a:ext cx="8572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53634F"/>
                </a:solidFill>
                <a:latin typeface="Arial"/>
              </a:rPr>
              <a:t>PLANT CARE SCHEDULING SYSTEM</a:t>
            </a:r>
          </a:p>
        </p:txBody>
      </p:sp>
      <p:sp>
        <p:nvSpPr>
          <p:cNvPr id="3" name="Cover accent"/>
          <p:cNvSpPr/>
          <p:nvPr/>
        </p:nvSpPr>
        <p:spPr>
          <a:xfrm>
            <a:off x="685800" y="3143250"/>
            <a:ext cx="533400" cy="47625"/>
          </a:xfrm>
          <a:prstGeom prst="rect">
            <a:avLst/>
          </a:prstGeom>
          <a:solidFill>
            <a:srgbClr val="6A97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3390900"/>
            <a:ext cx="9906000" cy="1600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950"/>
              </a:lnSpc>
              <a:spcBef>
                <a:spcPts val="0"/>
              </a:spcBef>
              <a:spcAft>
                <a:spcPts val="0"/>
              </a:spcAft>
            </a:pPr>
            <a:r>
              <a:rPr sz="4950" b="1" i="0" u="none">
                <a:solidFill>
                  <a:srgbClr val="14351A"/>
                </a:solidFill>
                <a:latin typeface="Arial"/>
              </a:rPr>
              <a:t>Sproutly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124450"/>
            <a:ext cx="7810499" cy="7429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53634F"/>
                </a:solidFill>
                <a:latin typeface="Arial"/>
              </a:rPr>
              <a:t>Small routines. Thriving plants.
A responsive, weather-aware personal garden.</a:t>
            </a:r>
          </a:p>
        </p:txBody>
      </p:sp>
      <p:sp>
        <p:nvSpPr>
          <p:cNvPr id="6" name="Footer"/>
          <p:cNvSpPr txBox="1"/>
          <p:nvPr/>
        </p:nvSpPr>
        <p:spPr>
          <a:xfrm>
            <a:off x="8077200" y="6305550"/>
            <a:ext cx="342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r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53634F"/>
                </a:solidFill>
                <a:latin typeface="Arial"/>
              </a:rPr>
              <a:t>01</a:t>
            </a:r>
          </a:p>
        </p:txBody>
      </p:sp>
      <p:cxnSp>
        <p:nvCxnSpPr>
          <p:cNvPr id="7" name="Footer rule"/>
          <p:cNvCxnSpPr/>
          <p:nvPr/>
        </p:nvCxnSpPr>
        <p:spPr>
          <a:xfrm>
            <a:off x="685800" y="61912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Footer"/>
          <p:cNvSpPr txBox="1"/>
          <p:nvPr/>
        </p:nvSpPr>
        <p:spPr>
          <a:xfrm>
            <a:off x="685800" y="6305550"/>
            <a:ext cx="72390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044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 u="none">
                <a:solidFill>
                  <a:srgbClr val="53634F"/>
                </a:solidFill>
                <a:latin typeface="Arial"/>
              </a:rPr>
              <a:t>Local implementation · Production setup pending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53634F"/>
                </a:solidFill>
                <a:latin typeface="Arial"/>
              </a:rPr>
              <a:t>THE PROBLEM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6A97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14351A"/>
                </a:solidFill>
                <a:latin typeface="Arial"/>
              </a:rPr>
              <a:t>Care should feel clear, not repetitive.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52650"/>
            <a:ext cx="5219700" cy="3562350"/>
          </a:xfrm>
          <a:prstGeom prst="roundRect">
            <a:avLst>
              <a:gd name="adj" fmla="val 320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86500" y="2152650"/>
            <a:ext cx="5219700" cy="3562350"/>
          </a:xfrm>
          <a:prstGeom prst="roundRect">
            <a:avLst>
              <a:gd name="adj" fmla="val 320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4900" y="2571750"/>
            <a:ext cx="381000" cy="38100"/>
          </a:xfrm>
          <a:prstGeom prst="rect">
            <a:avLst/>
          </a:prstGeom>
          <a:solidFill>
            <a:srgbClr val="5363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05600" y="2571750"/>
            <a:ext cx="381000" cy="38100"/>
          </a:xfrm>
          <a:prstGeom prst="rect">
            <a:avLst/>
          </a:prstGeom>
          <a:solidFill>
            <a:srgbClr val="6A97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4900" y="3028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14351A"/>
                </a:solidFill>
                <a:latin typeface="Arial"/>
              </a:rPr>
              <a:t>Before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3562350"/>
            <a:ext cx="43815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53634F"/>
                </a:solidFill>
                <a:latin typeface="Arial"/>
              </a:rPr>
              <a:t>Repeated full data and image loads.
Care notes confused with schedules.
Archived plants had no way back.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028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14351A"/>
                </a:solidFill>
                <a:latin typeface="Arial"/>
              </a:rPr>
              <a:t>Sproutly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562350"/>
            <a:ext cx="43815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53634F"/>
                </a:solidFill>
                <a:latin typeface="Arial"/>
              </a:rPr>
              <a:t>Change-only synchronization and stable images.
Explicit every-N-days routines.
Selective restore with fresh due dates.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53634F"/>
                </a:solidFill>
                <a:latin typeface="Arial"/>
              </a:rPr>
              <a:t>CORE WORKFLOW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6A97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14351A"/>
                </a:solidFill>
                <a:latin typeface="Arial"/>
              </a:rPr>
              <a:t>A routine with a reliable memory.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5000" y="3448050"/>
            <a:ext cx="83820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6" name="Process step 1 marker"/>
          <p:cNvSpPr/>
          <p:nvPr/>
        </p:nvSpPr>
        <p:spPr>
          <a:xfrm>
            <a:off x="2324100" y="3200400"/>
            <a:ext cx="495299" cy="495299"/>
          </a:xfrm>
          <a:prstGeom prst="ellipse">
            <a:avLst/>
          </a:prstGeom>
          <a:solidFill>
            <a:srgbClr val="6A9700"/>
          </a:solidFill>
          <a:ln w="19050">
            <a:solidFill>
              <a:srgbClr val="6A97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2410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250" y="3905249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14351A"/>
                </a:solidFill>
                <a:latin typeface="Arial"/>
              </a:rPr>
              <a:t>Add a plant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50" y="4305300"/>
            <a:ext cx="34290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53634F"/>
                </a:solidFill>
                <a:latin typeface="Arial"/>
              </a:rPr>
              <a:t>Light and location.</a:t>
            </a:r>
          </a:p>
        </p:txBody>
      </p:sp>
      <p:sp>
        <p:nvSpPr>
          <p:cNvPr id="10" name="Process step 2 marker"/>
          <p:cNvSpPr/>
          <p:nvPr/>
        </p:nvSpPr>
        <p:spPr>
          <a:xfrm>
            <a:off x="5848350" y="3200400"/>
            <a:ext cx="495299" cy="49529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4835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6A9700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1500" y="3905249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14351A"/>
                </a:solidFill>
                <a:latin typeface="Arial"/>
              </a:rPr>
              <a:t>Set N days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1500" y="4305300"/>
            <a:ext cx="34290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53634F"/>
                </a:solidFill>
                <a:latin typeface="Arial"/>
              </a:rPr>
              <a:t>Separate care routines.</a:t>
            </a:r>
          </a:p>
        </p:txBody>
      </p:sp>
      <p:sp>
        <p:nvSpPr>
          <p:cNvPr id="14" name="Process step 3 marker"/>
          <p:cNvSpPr/>
          <p:nvPr/>
        </p:nvSpPr>
        <p:spPr>
          <a:xfrm>
            <a:off x="9372600" y="3200400"/>
            <a:ext cx="495299" cy="495299"/>
          </a:xfrm>
          <a:prstGeom prst="ellipse">
            <a:avLst/>
          </a:prstGeom>
          <a:solidFill>
            <a:srgbClr val="FFFFFF"/>
          </a:solidFill>
          <a:ln w="19050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72600" y="3333750"/>
            <a:ext cx="495299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56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 u="none">
                <a:solidFill>
                  <a:srgbClr val="6A9700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05750" y="3905249"/>
            <a:ext cx="3429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2175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14351A"/>
                </a:solidFill>
                <a:latin typeface="Arial"/>
              </a:rPr>
              <a:t>Record and 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05750" y="4305300"/>
            <a:ext cx="34290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ctr">
              <a:lnSpc>
                <a:spcPts val="1657"/>
              </a:lnSpc>
              <a:spcBef>
                <a:spcPts val="0"/>
              </a:spcBef>
              <a:spcAft>
                <a:spcPts val="0"/>
              </a:spcAft>
            </a:pPr>
            <a:r>
              <a:rPr sz="1275" b="0" i="0" u="none">
                <a:solidFill>
                  <a:srgbClr val="53634F"/>
                </a:solidFill>
                <a:latin typeface="Arial"/>
              </a:rPr>
              <a:t>History and progress.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Media frame"/>
          <p:cNvSpPr/>
          <p:nvPr/>
        </p:nvSpPr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" name="Story image" descr="desktop-overview.png"/>
          <p:cNvPicPr>
            <a:picLocks noChangeAspect="1"/>
          </p:cNvPicPr>
          <p:nvPr/>
        </p:nvPicPr>
        <p:blipFill>
          <a:blip r:embed="rId2"/>
          <a:srcRect t="15483" b="15483"/>
          <a:stretch>
            <a:fillRect/>
          </a:stretch>
        </p:blipFill>
        <p:spPr>
          <a:xfrm>
            <a:off x="685800" y="1143000"/>
            <a:ext cx="4457700" cy="3771900"/>
          </a:xfrm>
          <a:prstGeom prst="roundRect">
            <a:avLst>
              <a:gd name="adj" fmla="val 3030"/>
            </a:avLst>
          </a:prstGeom>
        </p:spPr>
      </p:pic>
      <p:sp>
        <p:nvSpPr>
          <p:cNvPr id="4" name="TextBox 3"/>
          <p:cNvSpPr txBox="1"/>
          <p:nvPr/>
        </p:nvSpPr>
        <p:spPr>
          <a:xfrm>
            <a:off x="685800" y="5048250"/>
            <a:ext cx="445770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0" i="0" u="none">
                <a:solidFill>
                  <a:srgbClr val="53634F"/>
                </a:solidFill>
                <a:latin typeface="Arial"/>
              </a:rPr>
              <a:t>Local demo screenshot; fictional sample data.</a:t>
            </a:r>
          </a:p>
        </p:txBody>
      </p:sp>
      <p:sp>
        <p:nvSpPr>
          <p:cNvPr id="5" name="Section label"/>
          <p:cNvSpPr txBox="1"/>
          <p:nvPr/>
        </p:nvSpPr>
        <p:spPr>
          <a:xfrm>
            <a:off x="6191250" y="1143000"/>
            <a:ext cx="4391025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53634F"/>
                </a:solidFill>
                <a:latin typeface="Arial"/>
              </a:rPr>
              <a:t>LIGHT, VIBRANT, RESPONSIVE</a:t>
            </a:r>
          </a:p>
        </p:txBody>
      </p:sp>
      <p:sp>
        <p:nvSpPr>
          <p:cNvPr id="6" name="Rectangle 5"/>
          <p:cNvSpPr/>
          <p:nvPr/>
        </p:nvSpPr>
        <p:spPr>
          <a:xfrm>
            <a:off x="6191250" y="1447800"/>
            <a:ext cx="419100" cy="38100"/>
          </a:xfrm>
          <a:prstGeom prst="rect">
            <a:avLst/>
          </a:prstGeom>
          <a:solidFill>
            <a:srgbClr val="6A97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91250" y="1619250"/>
            <a:ext cx="4476750" cy="1181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5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14351A"/>
                </a:solidFill>
                <a:latin typeface="Arial"/>
              </a:rPr>
              <a:t>A garden at a glance.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3009900"/>
            <a:ext cx="4476750" cy="20002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53634F"/>
                </a:solidFill>
                <a:latin typeface="Arial"/>
              </a:rPr>
              <a:t>Lime and forest contrast inspired by Sweet Tape.
Colourful task types and emoji categories.
No breadcrumbs; clear navigation and back links.
In-app inbox with opt-in open-tab reminders.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53634F"/>
                </a:solidFill>
                <a:latin typeface="Arial"/>
              </a:rPr>
              <a:t>ARCHITECTURE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6A97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14351A"/>
                </a:solidFill>
                <a:latin typeface="Arial"/>
              </a:rPr>
              <a:t>Prisma without bypassing garden privacy.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6A9700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4351A"/>
                </a:solidFill>
                <a:latin typeface="Arial"/>
              </a:rPr>
              <a:t>Application boundary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53634F"/>
                </a:solidFill>
                <a:latin typeface="Arial"/>
              </a:rPr>
              <a:t>Next.js and TypeScript.
Supabase verifies the session.
Prisma runs a transaction as authenticated.
Verified UID is transaction-local.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6A9700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4351A"/>
                </a:solidFill>
                <a:latin typeface="Arial"/>
              </a:rPr>
              <a:t>Data boundary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53634F"/>
                </a:solidFill>
                <a:latin typeface="Arial"/>
              </a:rPr>
              <a:t>PostgreSQL RLS limits owner rows.
Composite foreign keys protect ownership.
Auth owns password hashing.
Private Storage uses owner folders.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53634F"/>
                </a:solidFill>
                <a:latin typeface="Arial"/>
              </a:rPr>
              <a:t>CACHE AND CONNECTIVITY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6A97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14351A"/>
                </a:solidFill>
                <a:latin typeface="Arial"/>
              </a:rPr>
              <a:t>Less reloading. Honest offline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152650"/>
            <a:ext cx="5219700" cy="3562350"/>
          </a:xfrm>
          <a:prstGeom prst="roundRect">
            <a:avLst>
              <a:gd name="adj" fmla="val 320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286500" y="2152650"/>
            <a:ext cx="5219700" cy="3562350"/>
          </a:xfrm>
          <a:prstGeom prst="roundRect">
            <a:avLst>
              <a:gd name="adj" fmla="val 3208"/>
            </a:avLst>
          </a:prstGeom>
          <a:solidFill>
            <a:srgbClr val="F9F8F7"/>
          </a:solidFill>
          <a:ln w="9525">
            <a:solidFill>
              <a:srgbClr val="E6E5E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04900" y="2571750"/>
            <a:ext cx="381000" cy="38100"/>
          </a:xfrm>
          <a:prstGeom prst="rect">
            <a:avLst/>
          </a:prstGeom>
          <a:solidFill>
            <a:srgbClr val="5363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05600" y="2571750"/>
            <a:ext cx="381000" cy="38100"/>
          </a:xfrm>
          <a:prstGeom prst="rect">
            <a:avLst/>
          </a:prstGeom>
          <a:solidFill>
            <a:srgbClr val="6A97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04900" y="3028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14351A"/>
                </a:solidFill>
                <a:latin typeface="Arial"/>
              </a:rPr>
              <a:t>While online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4900" y="3562350"/>
            <a:ext cx="43815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53634F"/>
                </a:solidFill>
                <a:latin typeface="Arial"/>
              </a:rPr>
              <a:t>Keep workspace state across navigation.
Restore per-user same-tab cache.
Fetch changed rows and deletion IDs.
Use stable private image URLs.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3028950"/>
            <a:ext cx="43815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436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14351A"/>
                </a:solidFill>
                <a:latin typeface="Arial"/>
              </a:rPr>
              <a:t>When offline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562350"/>
            <a:ext cx="4381500" cy="1200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1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53634F"/>
                </a:solidFill>
                <a:latin typeface="Arial"/>
              </a:rPr>
              <a:t>Public service-worker fallback page.
Previously open views can remain visible.
No offline writes or queued task actions.
Never cache private pages in the worker.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53634F"/>
                </a:solidFill>
                <a:latin typeface="Arial"/>
              </a:rPr>
              <a:t>WEATHER-AWARE, USER-CONTROLLED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6A97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14351A"/>
                </a:solidFill>
                <a:latin typeface="Arial"/>
              </a:rPr>
              <a:t>Rain is a suggestion, not completed care.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81250"/>
            <a:ext cx="4953000" cy="1809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14351A"/>
                </a:solidFill>
                <a:latin typeface="Arial"/>
              </a:rPr>
              <a:t>A forecast never automatically marks watering done.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053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53634F"/>
                </a:solidFill>
                <a:latin typeface="Arial"/>
              </a:rPr>
              <a:t/>
            </a:r>
          </a:p>
        </p:txBody>
      </p:sp>
      <p:sp>
        <p:nvSpPr>
          <p:cNvPr id="7" name="Section label"/>
          <p:cNvSpPr txBox="1"/>
          <p:nvPr/>
        </p:nvSpPr>
        <p:spPr>
          <a:xfrm>
            <a:off x="6191250" y="23812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6A9700"/>
                </a:solidFill>
                <a:latin typeface="Arial"/>
              </a:rPr>
              <a:t>LOCATION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628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14351A"/>
                </a:solidFill>
                <a:latin typeface="Arial"/>
              </a:rPr>
              <a:t>Permission-based or manual coordinates.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0" y="32385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Section label"/>
          <p:cNvSpPr txBox="1"/>
          <p:nvPr/>
        </p:nvSpPr>
        <p:spPr>
          <a:xfrm>
            <a:off x="6191250" y="33718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6A9700"/>
                </a:solidFill>
                <a:latin typeface="Arial"/>
              </a:rPr>
              <a:t>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36195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14351A"/>
                </a:solidFill>
                <a:latin typeface="Arial"/>
              </a:rPr>
              <a:t>Fresh matching date, ≥60% chance and ≥1 mm.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1250" y="42291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191250" y="43624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6A9700"/>
                </a:solidFill>
                <a:latin typeface="Arial"/>
              </a:rPr>
              <a:t>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46101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14351A"/>
                </a:solidFill>
                <a:latin typeface="Arial"/>
              </a:rPr>
              <a:t>Due outdoor watering only.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91250" y="52197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6" name="Section label"/>
          <p:cNvSpPr txBox="1"/>
          <p:nvPr/>
        </p:nvSpPr>
        <p:spPr>
          <a:xfrm>
            <a:off x="6191250" y="53530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6A9700"/>
                </a:solidFill>
                <a:latin typeface="Arial"/>
              </a:rPr>
              <a:t>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0" y="56007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14351A"/>
                </a:solidFill>
                <a:latin typeface="Arial"/>
              </a:rPr>
              <a:t>User confirms “Skipped — rain”.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53634F"/>
                </a:solidFill>
                <a:latin typeface="Arial"/>
              </a:rPr>
              <a:t>JOURNAL AND RESTORE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6A97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276"/>
              </a:lnSpc>
              <a:spcBef>
                <a:spcPts val="0"/>
              </a:spcBef>
              <a:spcAft>
                <a:spcPts val="0"/>
              </a:spcAft>
            </a:pPr>
            <a:r>
              <a:rPr sz="3150" b="1" i="0" u="none">
                <a:solidFill>
                  <a:srgbClr val="14351A"/>
                </a:solidFill>
                <a:latin typeface="Arial"/>
              </a:rPr>
              <a:t>Keep the story. Restart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6A9700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635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4351A"/>
                </a:solidFill>
                <a:latin typeface="Arial"/>
              </a:rPr>
              <a:t>Growth journal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53634F"/>
                </a:solidFill>
                <a:latin typeface="Arial"/>
              </a:rPr>
              <a:t>Dated height and leaf observations.
Actual elapsed-day chart and exact table.
Captioned photo timeline/gallery.
Owner-scoped edit and delete.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1250" y="2247900"/>
            <a:ext cx="514350" cy="285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739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6A9700"/>
                </a:solidFill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81800" y="2228850"/>
            <a:ext cx="3810000" cy="3238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1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4351A"/>
                </a:solidFill>
                <a:latin typeface="Arial"/>
              </a:rPr>
              <a:t>Selective restore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91250" y="2781300"/>
            <a:ext cx="50863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2" name="TextBox 11"/>
          <p:cNvSpPr txBox="1"/>
          <p:nvPr/>
        </p:nvSpPr>
        <p:spPr>
          <a:xfrm>
            <a:off x="6191250" y="2971800"/>
            <a:ext cx="5086350" cy="2286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04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53634F"/>
                </a:solidFill>
                <a:latin typeface="Arial"/>
              </a:rPr>
              <a:t>Archive stops routines and retains history.
Choose routines explicitly on restore.
Next due starts one interval from today.
Ended routines remain stopped.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53634F"/>
                </a:solidFill>
                <a:latin typeface="Arial"/>
              </a:rPr>
              <a:t>VERIFICATION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6A97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14351A"/>
                </a:solidFill>
                <a:latin typeface="Arial"/>
              </a:rPr>
              <a:t>Evidence has a defined boundary.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381250"/>
            <a:ext cx="4953000" cy="1809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4131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14351A"/>
                </a:solidFill>
                <a:latin typeface="Arial"/>
              </a:rPr>
              <a:t>Local tests are not production acceptance.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305300"/>
            <a:ext cx="4762500" cy="609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53634F"/>
                </a:solidFill>
                <a:latin typeface="Arial"/>
              </a:rPr>
              <a:t/>
            </a:r>
          </a:p>
        </p:txBody>
      </p:sp>
      <p:sp>
        <p:nvSpPr>
          <p:cNvPr id="7" name="Section label"/>
          <p:cNvSpPr txBox="1"/>
          <p:nvPr/>
        </p:nvSpPr>
        <p:spPr>
          <a:xfrm>
            <a:off x="6191250" y="23812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6A9700"/>
                </a:solidFill>
                <a:latin typeface="Arial"/>
              </a:rPr>
              <a:t>44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1250" y="26289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14351A"/>
                </a:solidFill>
                <a:latin typeface="Arial"/>
              </a:rPr>
              <a:t>Dates, validation, demo and actual SQL policies.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91250" y="32385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0" name="Section label"/>
          <p:cNvSpPr txBox="1"/>
          <p:nvPr/>
        </p:nvSpPr>
        <p:spPr>
          <a:xfrm>
            <a:off x="6191250" y="33718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6A9700"/>
                </a:solidFill>
                <a:latin typeface="Arial"/>
              </a:rPr>
              <a:t>BROWSER SUITE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91250" y="36195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14351A"/>
                </a:solidFill>
                <a:latin typeface="Arial"/>
              </a:rPr>
              <a:t>Desktop/mobile flows; deterministic weather fixture.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91250" y="42291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3" name="Section label"/>
          <p:cNvSpPr txBox="1"/>
          <p:nvPr/>
        </p:nvSpPr>
        <p:spPr>
          <a:xfrm>
            <a:off x="6191250" y="43624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6A9700"/>
                </a:solidFill>
                <a:latin typeface="Arial"/>
              </a:rPr>
              <a:t>CHECKS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1250" y="46101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14351A"/>
                </a:solidFill>
                <a:latin typeface="Arial"/>
              </a:rPr>
              <a:t>Strict TypeScript, lint and production build.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191250" y="5219700"/>
            <a:ext cx="531495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6" name="Section label"/>
          <p:cNvSpPr txBox="1"/>
          <p:nvPr/>
        </p:nvSpPr>
        <p:spPr>
          <a:xfrm>
            <a:off x="6191250" y="5353050"/>
            <a:ext cx="2857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975" b="1" i="0" u="none">
                <a:solidFill>
                  <a:srgbClr val="6A9700"/>
                </a:solidFill>
                <a:latin typeface="Arial"/>
              </a:rPr>
              <a:t>PENDING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91250" y="5600700"/>
            <a:ext cx="5314950" cy="571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047"/>
              </a:lnSpc>
              <a:spcBef>
                <a:spcPts val="0"/>
              </a:spcBef>
              <a:spcAft>
                <a:spcPts val="0"/>
              </a:spcAft>
            </a:pPr>
            <a:r>
              <a:rPr sz="1575" b="1" i="0" u="none">
                <a:solidFill>
                  <a:srgbClr val="14351A"/>
                </a:solidFill>
                <a:latin typeface="Arial"/>
              </a:rPr>
              <a:t>Real Auth/email, Storage, Prisma and hosted-site tests.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ection label"/>
          <p:cNvSpPr txBox="1"/>
          <p:nvPr/>
        </p:nvSpPr>
        <p:spPr>
          <a:xfrm>
            <a:off x="685800" y="685800"/>
            <a:ext cx="5905500" cy="247649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1218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 u="none">
                <a:solidFill>
                  <a:srgbClr val="53634F"/>
                </a:solidFill>
                <a:latin typeface="Arial"/>
              </a:rPr>
              <a:t>NEXT: LIVE ACCEPTANCE</a:t>
            </a:r>
          </a:p>
        </p:txBody>
      </p:sp>
      <p:sp>
        <p:nvSpPr>
          <p:cNvPr id="3" name="Title accent"/>
          <p:cNvSpPr/>
          <p:nvPr/>
        </p:nvSpPr>
        <p:spPr>
          <a:xfrm>
            <a:off x="685800" y="1009650"/>
            <a:ext cx="419100" cy="38100"/>
          </a:xfrm>
          <a:prstGeom prst="rect">
            <a:avLst/>
          </a:prstGeom>
          <a:solidFill>
            <a:srgbClr val="6A97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Slide title"/>
          <p:cNvSpPr txBox="1"/>
          <p:nvPr/>
        </p:nvSpPr>
        <p:spPr>
          <a:xfrm>
            <a:off x="685800" y="1181100"/>
            <a:ext cx="10820400" cy="876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12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 u="none">
                <a:solidFill>
                  <a:srgbClr val="14351A"/>
                </a:solidFill>
                <a:latin typeface="Arial"/>
              </a:rPr>
              <a:t>Ready for account-connected testing.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5265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6A9700"/>
                </a:solidFill>
                <a:latin typeface="Arial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00200" y="21336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1" i="0" u="none">
                <a:solidFill>
                  <a:srgbClr val="14351A"/>
                </a:solidFill>
                <a:latin typeface="Arial"/>
              </a:rPr>
              <a:t>Connect authorized GitHub, Vercel and Supabase projects.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26670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685800" y="29718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6A970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9527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14351A"/>
                </a:solidFill>
                <a:latin typeface="Arial"/>
              </a:rPr>
              <a:t>Apply migrations, configure environment and email redirects.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348615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1" name="TextBox 10"/>
          <p:cNvSpPr txBox="1"/>
          <p:nvPr/>
        </p:nvSpPr>
        <p:spPr>
          <a:xfrm>
            <a:off x="685800" y="3790949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6A9700"/>
                </a:solidFill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77190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14351A"/>
                </a:solidFill>
                <a:latin typeface="Arial"/>
              </a:rPr>
              <a:t>Verify two-user privacy, live uploads, caching and weather on HTTPS.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4305300"/>
            <a:ext cx="10820400" cy="0"/>
          </a:xfrm>
          <a:prstGeom prst="line">
            <a:avLst/>
          </a:prstGeom>
          <a:ln w="9525">
            <a:solidFill>
              <a:srgbClr val="E6E5E3"/>
            </a:solidFill>
          </a:ln>
        </p:spPr>
      </p:cxnSp>
      <p:sp>
        <p:nvSpPr>
          <p:cNvPr id="14" name="TextBox 13"/>
          <p:cNvSpPr txBox="1"/>
          <p:nvPr/>
        </p:nvSpPr>
        <p:spPr>
          <a:xfrm>
            <a:off x="685800" y="4610100"/>
            <a:ext cx="685800" cy="4572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3305"/>
              </a:lnSpc>
              <a:spcBef>
                <a:spcPts val="0"/>
              </a:spcBef>
              <a:spcAft>
                <a:spcPts val="0"/>
              </a:spcAft>
            </a:pPr>
            <a:r>
              <a:rPr sz="2850" b="1" i="0" u="none">
                <a:solidFill>
                  <a:srgbClr val="6A9700"/>
                </a:solidFill>
                <a:latin typeface="Arial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591050"/>
            <a:ext cx="9906000" cy="4381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noAutofit/>
          </a:bodyPr>
          <a:lstStyle/>
          <a:p>
            <a:pPr algn="l">
              <a:lnSpc>
                <a:spcPts val="2268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14351A"/>
                </a:solidFill>
                <a:latin typeface="Arial"/>
              </a:rPr>
              <a:t>Rehearse the live presentation and keep the local demo as backup.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Notion Artifact Export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  <DocSecurity>0</DocSecurit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Sproutly-Presentation</dc:title>
  <dc:subject/>
  <dc:creator>Notion AI</dc:creator>
  <cp:keywords/>
  <dc:description>generated using python-pptx</dc:description>
  <cp:lastModifiedBy>Notion AI</cp:lastModifiedBy>
  <cp:revision>1</cp:revision>
  <dcterms:created xsi:type="dcterms:W3CDTF">2026-10-17T07:23:37Z</dcterms:created>
  <dcterms:modified xsi:type="dcterms:W3CDTF">2026-10-17T07:23:37Z</dcterms:modified>
  <cp:category/>
</cp:coreProperties>
</file>